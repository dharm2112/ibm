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  <Relationship Id="rId15" Type="http://schemas.openxmlformats.org/officeDocument/2006/relationships/slide" Target="slides/slide9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TRIALGUARD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 Risk Monitor &amp; Protocol Deviation Detector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protocol intelligence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deviation detection &amp; site risk scoring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CAPA generation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257800"/>
            <a:ext cx="566928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4406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watsonx.ai   •   FastAPI   •   React   •   PostgreSQL / SQLite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 oversight is fragmented, reactive, and difficult to scale.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529584" cy="2331720"/>
          </a:xfrm>
          <a:prstGeom prst="roundRect">
            <a:avLst>
              <a:gd name="adj" fmla="val 3137"/>
            </a:avLst>
          </a:prstGeom>
          <a:solidFill>
            <a:srgbClr val="F3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65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information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29809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Protocols, visits, dosing, labs, medications and deviations live across disconnected sources.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6824" y="1691640"/>
            <a:ext cx="3529584" cy="2331720"/>
          </a:xfrm>
          <a:prstGeom prst="roundRect">
            <a:avLst>
              <a:gd name="adj" fmla="val 3137"/>
            </a:avLst>
          </a:prstGeom>
          <a:solidFill>
            <a:srgbClr val="F3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81144" y="1965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581144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81144" y="2606040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detection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81144" y="3063240"/>
            <a:ext cx="29809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can miss repeated protocol deviations and emerging site-level patterns.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56448" y="1691640"/>
            <a:ext cx="3529584" cy="2331720"/>
          </a:xfrm>
          <a:prstGeom prst="roundRect">
            <a:avLst>
              <a:gd name="adj" fmla="val 3137"/>
            </a:avLst>
          </a:prstGeom>
          <a:solidFill>
            <a:srgbClr val="F3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430768" y="1965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430768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30768" y="2606040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response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0768" y="3063240"/>
            <a:ext cx="29809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deviation is only the first step; teams still need explanation and corrective action.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0B2E3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599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OUTCOME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49834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review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08960" y="4983480"/>
            <a:ext cx="435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44824" y="49834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76544" y="4983480"/>
            <a:ext cx="435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12408" y="49834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risk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44128" y="4983480"/>
            <a:ext cx="435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79992" y="4983480"/>
            <a:ext cx="2331720" cy="640080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Human-reviewed CAPA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TRIALGUARD  •  Clinical Trial Risk Monitor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 — TrialGuard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system combining deterministic controls with IBM watsonx.ai.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20140" y="1828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1201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035808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rules with watsonx.ai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1847088"/>
            <a:ext cx="3611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47288" y="18288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3447288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84348" y="2651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84348" y="3035808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 pending rules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0308" y="1847088"/>
            <a:ext cx="3611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774436" y="1828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774436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11496" y="2651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11496" y="3035808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engine checks data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77456" y="1847088"/>
            <a:ext cx="3611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101584" y="18288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8101584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38644" y="2651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38644" y="3035808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risk score + explanation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04604" y="1847088"/>
            <a:ext cx="3611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428732" y="1828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10428732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765792" y="2651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65792" y="3035808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 drafts CAPA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343400"/>
            <a:ext cx="11274552" cy="1691640"/>
          </a:xfrm>
          <a:prstGeom prst="roundRect">
            <a:avLst>
              <a:gd name="adj" fmla="val 4324"/>
            </a:avLst>
          </a:prstGeom>
          <a:solidFill>
            <a:srgbClr val="F3F7F7"/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" y="4654296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4507992"/>
            <a:ext cx="10360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 and explains; deterministic logic decides deviation occurrence and final severity.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77240" y="5111496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4965192"/>
            <a:ext cx="10360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AI-extracted rules start PENDING and require human approval before execution.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77240" y="5568696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5422392"/>
            <a:ext cx="10360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CAPA is always a draft and requires review.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TRIALGUARD  •  Clinical Trial Risk Monitor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clinical operations, quality teams, and site oversight.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529584" cy="1965960"/>
          </a:xfrm>
          <a:prstGeom prst="roundRect">
            <a:avLst>
              <a:gd name="adj" fmla="val 3721"/>
            </a:avLst>
          </a:prstGeom>
          <a:solidFill>
            <a:srgbClr val="F3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20391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26517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Dashboard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30632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ranking, deviations and risk indicators.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06824" y="1783080"/>
            <a:ext cx="3529584" cy="1965960"/>
          </a:xfrm>
          <a:prstGeom prst="roundRect">
            <a:avLst>
              <a:gd name="adj" fmla="val 3721"/>
            </a:avLst>
          </a:prstGeom>
          <a:solidFill>
            <a:srgbClr val="F3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62856" y="20391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562856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62856" y="26517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Deviation Center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2856" y="30632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deviations, severity and evidence.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6448" y="1783080"/>
            <a:ext cx="3529584" cy="1965960"/>
          </a:xfrm>
          <a:prstGeom prst="roundRect">
            <a:avLst>
              <a:gd name="adj" fmla="val 3721"/>
            </a:avLst>
          </a:prstGeom>
          <a:solidFill>
            <a:srgbClr val="F3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20391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0" y="26517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Timeline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30632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visit, dose, lab and medication view.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3529584" cy="1965960"/>
          </a:xfrm>
          <a:prstGeom prst="roundRect">
            <a:avLst>
              <a:gd name="adj" fmla="val 3721"/>
            </a:avLst>
          </a:prstGeom>
          <a:solidFill>
            <a:srgbClr val="F3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432511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325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" y="49377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Risk Explanation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" y="53492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explanation grounded in risk facts.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06824" y="4069080"/>
            <a:ext cx="3529584" cy="1965960"/>
          </a:xfrm>
          <a:prstGeom prst="roundRect">
            <a:avLst>
              <a:gd name="adj" fmla="val 3721"/>
            </a:avLst>
          </a:prstGeom>
          <a:solidFill>
            <a:srgbClr val="F3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562856" y="432511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562856" y="4325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62856" y="49377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 Management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62856" y="53492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cause, actions, timeline and effectiveness check.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56448" y="4069080"/>
            <a:ext cx="3529584" cy="1965960"/>
          </a:xfrm>
          <a:prstGeom prst="roundRect">
            <a:avLst>
              <a:gd name="adj" fmla="val 3721"/>
            </a:avLst>
          </a:prstGeom>
          <a:solidFill>
            <a:srgbClr val="F3F7F7"/>
          </a:solidFill>
          <a:ln/>
        </p:spPr>
      </p:sp>
      <p:sp>
        <p:nvSpPr>
          <p:cNvPr id="30" name="Shape 28"/>
          <p:cNvSpPr/>
          <p:nvPr/>
        </p:nvSpPr>
        <p:spPr>
          <a:xfrm>
            <a:off x="8412480" y="432511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325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12480" y="49377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Trail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12480" y="53492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outputs, approvals and status changes.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TRIALGUARD  •  Clinical Trial Risk Monitor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&amp;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assists; deterministic logic verifies; humans remain accountable.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529584" cy="4206240"/>
          </a:xfrm>
          <a:prstGeom prst="roundRect">
            <a:avLst>
              <a:gd name="adj" fmla="val 2073"/>
            </a:avLst>
          </a:prstGeom>
          <a:solidFill>
            <a:srgbClr val="F3F7F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83080"/>
            <a:ext cx="3529584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83080"/>
            <a:ext cx="3529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298094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06824" y="1783080"/>
            <a:ext cx="3529584" cy="4206240"/>
          </a:xfrm>
          <a:prstGeom prst="roundRect">
            <a:avLst>
              <a:gd name="adj" fmla="val 2073"/>
            </a:avLst>
          </a:prstGeom>
          <a:solidFill>
            <a:srgbClr val="F3F7F7"/>
          </a:solidFill>
          <a:ln/>
        </p:spPr>
      </p:sp>
      <p:sp>
        <p:nvSpPr>
          <p:cNvPr id="9" name="Shape 7"/>
          <p:cNvSpPr/>
          <p:nvPr/>
        </p:nvSpPr>
        <p:spPr>
          <a:xfrm>
            <a:off x="4306824" y="1783080"/>
            <a:ext cx="3529584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306824" y="1783080"/>
            <a:ext cx="3529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Data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81144" y="2560320"/>
            <a:ext cx="298094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SQLite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&amp; de-identified data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6448" y="1783080"/>
            <a:ext cx="3529584" cy="4206240"/>
          </a:xfrm>
          <a:prstGeom prst="roundRect">
            <a:avLst>
              <a:gd name="adj" fmla="val 2073"/>
            </a:avLst>
          </a:prstGeom>
          <a:solidFill>
            <a:srgbClr val="F3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156448" y="1783080"/>
            <a:ext cx="3529584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156448" y="1783080"/>
            <a:ext cx="3529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Layer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30768" y="2560320"/>
            <a:ext cx="298094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watsonx.ai SDK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extraction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explanation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drafting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validation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TRIALGUARD  •  Clinical Trial Risk Monitor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Dataset &amp; Detection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prototype scale with intentionally injected anomalies.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225491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22549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12110" y="1600200"/>
            <a:ext cx="225491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712110" y="2331720"/>
            <a:ext cx="22549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67021" y="1600200"/>
            <a:ext cx="225491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967021" y="2331720"/>
            <a:ext cx="22549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21931" y="1600200"/>
            <a:ext cx="225491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221931" y="2331720"/>
            <a:ext cx="22549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RULES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476842" y="1600200"/>
            <a:ext cx="225491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9476842" y="2331720"/>
            <a:ext cx="22549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DEVIATIONS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6995160" cy="1965960"/>
          </a:xfrm>
          <a:prstGeom prst="roundRect">
            <a:avLst>
              <a:gd name="adj" fmla="val 3721"/>
            </a:avLst>
          </a:prstGeom>
          <a:solidFill>
            <a:srgbClr val="F3F7F7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6446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SCENARIOS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611880"/>
            <a:ext cx="6446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104: repeated dosing deviations + prohibited medications + missed safety visits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102: repeated late data entries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107: prohibited co-medication + missed visits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0" y="306324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0B2E33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3246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COVERAGE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37490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 •  Visit  •  Medication  •  Lab  •  Procedure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5257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evaluators detect deviations, assign final severity and feed site-level risk scoring.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TRIALGUARD  •  Clinical Trial Risk Monitor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watsonx.ai Integration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AI use — not a decorative chatbot.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529584" cy="4206240"/>
          </a:xfrm>
          <a:prstGeom prst="roundRect">
            <a:avLst>
              <a:gd name="adj" fmla="val 2073"/>
            </a:avLst>
          </a:prstGeom>
          <a:solidFill>
            <a:srgbClr val="F3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391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2039112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 Intelligence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688336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protocol PDF/text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3465576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 extracts structured rules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731520" y="4297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4242816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start PENDING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731520" y="5074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5020056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approves executable mappings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306824" y="1783080"/>
            <a:ext cx="3529584" cy="4206240"/>
          </a:xfrm>
          <a:prstGeom prst="roundRect">
            <a:avLst>
              <a:gd name="adj" fmla="val 2073"/>
            </a:avLst>
          </a:prstGeom>
          <a:solidFill>
            <a:srgbClr val="F3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4581144" y="203911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4581144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75504" y="2039112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Risk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81144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46904" y="2688336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engine provides site risk facts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581144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46904" y="3465576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 turns facts into a readable explanation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4581144" y="4297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46904" y="4242816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independent risk calculation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8156448" y="1783080"/>
            <a:ext cx="3529584" cy="4206240"/>
          </a:xfrm>
          <a:prstGeom prst="roundRect">
            <a:avLst>
              <a:gd name="adj" fmla="val 2073"/>
            </a:avLst>
          </a:prstGeom>
          <a:solidFill>
            <a:srgbClr val="F3F7F7"/>
          </a:solidFill>
          <a:ln/>
        </p:spPr>
      </p:sp>
      <p:sp>
        <p:nvSpPr>
          <p:cNvPr id="27" name="Shape 25"/>
          <p:cNvSpPr/>
          <p:nvPr/>
        </p:nvSpPr>
        <p:spPr>
          <a:xfrm>
            <a:off x="8430768" y="203911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8430768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025128" y="2039112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 Drafting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430768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796528" y="2688336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deviation facts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8430768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96528" y="3465576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 generates structured CAPA draft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8430768" y="4297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796528" y="4242816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+ actions + timeline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8430768" y="5074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796528" y="5020056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required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TRIALGUARD  •  Clinical Trial Risk Monitor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Impact, Roadmap &amp; Closing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monitoring to scalable clinical quality intelligence.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394960" cy="2788920"/>
          </a:xfrm>
          <a:prstGeom prst="roundRect">
            <a:avLst>
              <a:gd name="adj" fmla="val 2623"/>
            </a:avLst>
          </a:prstGeom>
          <a:solidFill>
            <a:srgbClr val="0F3D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IMPACT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48463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protocol monitoring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deviation triage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risk prioritization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decisions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draft in minutes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394960" cy="2788920"/>
          </a:xfrm>
          <a:prstGeom prst="roundRect">
            <a:avLst>
              <a:gd name="adj" fmla="val 2623"/>
            </a:avLst>
          </a:prstGeom>
          <a:solidFill>
            <a:srgbClr val="0F3D43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874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48463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ClinicalTrials.gov / AACT metadata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validated rule library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RAG protocol Q&amp;A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security &amp; compliance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beyond demo datasets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75488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754880"/>
            <a:ext cx="107259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where language is needed.   •   Deterministic logic where correctness matters.   •   Humans where accountability matters.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971032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earlier.  Explain clearly.  Act faster.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builders behind TrialGuard.</a:t>
            </a:r>
            <a:endParaRPr lang="en-US" sz="1400" dirty="0"/>
          </a:p>
        </p:txBody>
      </p:sp>
      <p:sp>
        <p:nvSpPr>
          <p:cNvPr id="4" name="Shape 4"/>
          <p:cNvSpPr/>
          <p:nvPr/>
        </p:nvSpPr>
        <p:spPr>
          <a:xfrm>
            <a:off x="457200" y="1965960"/>
            <a:ext cx="2647950" cy="3383280"/>
          </a:xfrm>
          <a:prstGeom prst="roundRect">
            <a:avLst>
              <a:gd name="adj" fmla="val 3721"/>
            </a:avLst>
          </a:prstGeom>
          <a:solidFill>
            <a:srgbClr val="F3F7F7"/>
          </a:solidFill>
          <a:ln/>
        </p:spPr>
      </p:sp>
      <p:sp>
        <p:nvSpPr>
          <p:cNvPr id="5" name="Shape 5"/>
          <p:cNvSpPr/>
          <p:nvPr/>
        </p:nvSpPr>
        <p:spPr>
          <a:xfrm>
            <a:off x="1323975" y="22402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6"/>
          <p:cNvSpPr/>
          <p:nvPr/>
        </p:nvSpPr>
        <p:spPr>
          <a:xfrm>
            <a:off x="1323975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</a:t>
            </a:r>
            <a:endParaRPr lang="en-US" sz="2000" dirty="0"/>
          </a:p>
        </p:txBody>
      </p:sp>
      <p:sp>
        <p:nvSpPr>
          <p:cNvPr id="7" name="Text 7"/>
          <p:cNvSpPr/>
          <p:nvPr/>
        </p:nvSpPr>
        <p:spPr>
          <a:xfrm>
            <a:off x="640080" y="3291840"/>
            <a:ext cx="228219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Bhargav Rakholiya</a:t>
            </a:r>
            <a:endParaRPr lang="en-US" sz="1600" dirty="0"/>
          </a:p>
        </p:txBody>
      </p:sp>
      <p:sp>
        <p:nvSpPr>
          <p:cNvPr id="8" name="Text 8"/>
          <p:cNvSpPr/>
          <p:nvPr/>
        </p:nvSpPr>
        <p:spPr>
          <a:xfrm>
            <a:off x="640080" y="3703320"/>
            <a:ext cx="22821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• Backend &amp; AI</a:t>
            </a:r>
            <a:endParaRPr lang="en-US" sz="1150" dirty="0"/>
          </a:p>
        </p:txBody>
      </p:sp>
      <p:sp>
        <p:nvSpPr>
          <p:cNvPr id="9" name="Text 9"/>
          <p:cNvSpPr/>
          <p:nvPr/>
        </p:nvSpPr>
        <p:spPr>
          <a:xfrm>
            <a:off x="640080" y="4023360"/>
            <a:ext cx="228219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services, deterministic deviation engine, watsonx.ai orchestration.</a:t>
            </a:r>
            <a:endParaRPr lang="en-US" sz="1050" dirty="0"/>
          </a:p>
        </p:txBody>
      </p:sp>
      <p:sp>
        <p:nvSpPr>
          <p:cNvPr id="10" name="Shape 10"/>
          <p:cNvSpPr/>
          <p:nvPr/>
        </p:nvSpPr>
        <p:spPr>
          <a:xfrm>
            <a:off x="3333750" y="1965960"/>
            <a:ext cx="2647950" cy="3383280"/>
          </a:xfrm>
          <a:prstGeom prst="roundRect">
            <a:avLst>
              <a:gd name="adj" fmla="val 3721"/>
            </a:avLst>
          </a:prstGeom>
          <a:solidFill>
            <a:srgbClr val="F3F7F7"/>
          </a:solidFill>
          <a:ln/>
        </p:spPr>
      </p:sp>
      <p:sp>
        <p:nvSpPr>
          <p:cNvPr id="11" name="Shape 11"/>
          <p:cNvSpPr/>
          <p:nvPr/>
        </p:nvSpPr>
        <p:spPr>
          <a:xfrm>
            <a:off x="4200525" y="224028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2"/>
          <p:cNvSpPr/>
          <p:nvPr/>
        </p:nvSpPr>
        <p:spPr>
          <a:xfrm>
            <a:off x="4200525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PV</a:t>
            </a:r>
            <a:endParaRPr lang="en-US" sz="2000" dirty="0"/>
          </a:p>
        </p:txBody>
      </p:sp>
      <p:sp>
        <p:nvSpPr>
          <p:cNvPr id="13" name="Text 13"/>
          <p:cNvSpPr/>
          <p:nvPr/>
        </p:nvSpPr>
        <p:spPr>
          <a:xfrm>
            <a:off x="3516630" y="3291840"/>
            <a:ext cx="228219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 Vadhadiya</a:t>
            </a:r>
            <a:endParaRPr lang="en-US" sz="1600" dirty="0"/>
          </a:p>
        </p:txBody>
      </p:sp>
      <p:sp>
        <p:nvSpPr>
          <p:cNvPr id="14" name="Text 14"/>
          <p:cNvSpPr/>
          <p:nvPr/>
        </p:nvSpPr>
        <p:spPr>
          <a:xfrm>
            <a:off x="3516630" y="3703320"/>
            <a:ext cx="22821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Product Design</a:t>
            </a:r>
            <a:endParaRPr lang="en-US" sz="1150" dirty="0"/>
          </a:p>
        </p:txBody>
      </p:sp>
      <p:sp>
        <p:nvSpPr>
          <p:cNvPr id="15" name="Text 15"/>
          <p:cNvSpPr/>
          <p:nvPr/>
        </p:nvSpPr>
        <p:spPr>
          <a:xfrm>
            <a:off x="3516630" y="4023360"/>
            <a:ext cx="228219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dashboard, Tailwind CSS + Framer Motion UI and UX flows.</a:t>
            </a:r>
            <a:endParaRPr lang="en-US" sz="1050" dirty="0"/>
          </a:p>
        </p:txBody>
      </p:sp>
      <p:sp>
        <p:nvSpPr>
          <p:cNvPr id="16" name="Shape 16"/>
          <p:cNvSpPr/>
          <p:nvPr/>
        </p:nvSpPr>
        <p:spPr>
          <a:xfrm>
            <a:off x="6210300" y="1965960"/>
            <a:ext cx="2647950" cy="3383280"/>
          </a:xfrm>
          <a:prstGeom prst="roundRect">
            <a:avLst>
              <a:gd name="adj" fmla="val 3721"/>
            </a:avLst>
          </a:prstGeom>
          <a:solidFill>
            <a:srgbClr val="F3F7F7"/>
          </a:solidFill>
          <a:ln/>
        </p:spPr>
      </p:sp>
      <p:sp>
        <p:nvSpPr>
          <p:cNvPr id="17" name="Shape 17"/>
          <p:cNvSpPr/>
          <p:nvPr/>
        </p:nvSpPr>
        <p:spPr>
          <a:xfrm>
            <a:off x="7077075" y="22402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8"/>
          <p:cNvSpPr/>
          <p:nvPr/>
        </p:nvSpPr>
        <p:spPr>
          <a:xfrm>
            <a:off x="7077075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DG</a:t>
            </a:r>
            <a:endParaRPr lang="en-US" sz="2000" dirty="0"/>
          </a:p>
        </p:txBody>
      </p:sp>
      <p:sp>
        <p:nvSpPr>
          <p:cNvPr id="19" name="Text 19"/>
          <p:cNvSpPr/>
          <p:nvPr/>
        </p:nvSpPr>
        <p:spPr>
          <a:xfrm>
            <a:off x="6393180" y="3291840"/>
            <a:ext cx="228219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Dharm Gabani</a:t>
            </a:r>
            <a:endParaRPr lang="en-US" sz="1600" dirty="0"/>
          </a:p>
        </p:txBody>
      </p:sp>
      <p:sp>
        <p:nvSpPr>
          <p:cNvPr id="20" name="Text 20"/>
          <p:cNvSpPr/>
          <p:nvPr/>
        </p:nvSpPr>
        <p:spPr>
          <a:xfrm>
            <a:off x="6393180" y="3703320"/>
            <a:ext cx="22821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Database Engineering</a:t>
            </a:r>
            <a:endParaRPr lang="en-US" sz="1150" dirty="0"/>
          </a:p>
        </p:txBody>
      </p:sp>
      <p:sp>
        <p:nvSpPr>
          <p:cNvPr id="21" name="Text 21"/>
          <p:cNvSpPr/>
          <p:nvPr/>
        </p:nvSpPr>
        <p:spPr>
          <a:xfrm>
            <a:off x="6393180" y="4023360"/>
            <a:ext cx="228219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NeonDB schema, data pipeline, site risk scoring logic and demo dataset.</a:t>
            </a:r>
            <a:endParaRPr lang="en-US" sz="1050" dirty="0"/>
          </a:p>
        </p:txBody>
      </p:sp>
      <p:sp>
        <p:nvSpPr>
          <p:cNvPr id="22" name="Shape 22"/>
          <p:cNvSpPr/>
          <p:nvPr/>
        </p:nvSpPr>
        <p:spPr>
          <a:xfrm>
            <a:off x="9086850" y="1965960"/>
            <a:ext cx="2647950" cy="3383280"/>
          </a:xfrm>
          <a:prstGeom prst="roundRect">
            <a:avLst>
              <a:gd name="adj" fmla="val 3721"/>
            </a:avLst>
          </a:prstGeom>
          <a:solidFill>
            <a:srgbClr val="F3F7F7"/>
          </a:solidFill>
          <a:ln/>
        </p:spPr>
      </p:sp>
      <p:sp>
        <p:nvSpPr>
          <p:cNvPr id="23" name="Shape 23"/>
          <p:cNvSpPr/>
          <p:nvPr/>
        </p:nvSpPr>
        <p:spPr>
          <a:xfrm>
            <a:off x="9953625" y="224028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4"/>
          <p:cNvSpPr/>
          <p:nvPr/>
        </p:nvSpPr>
        <p:spPr>
          <a:xfrm>
            <a:off x="9953625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MM</a:t>
            </a:r>
            <a:endParaRPr lang="en-US" sz="2000" dirty="0"/>
          </a:p>
        </p:txBody>
      </p:sp>
      <p:sp>
        <p:nvSpPr>
          <p:cNvPr id="25" name="Text 25"/>
          <p:cNvSpPr/>
          <p:nvPr/>
        </p:nvSpPr>
        <p:spPr>
          <a:xfrm>
            <a:off x="9269730" y="3291840"/>
            <a:ext cx="228219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Manav Merja</a:t>
            </a:r>
            <a:endParaRPr lang="en-US" sz="1600" dirty="0"/>
          </a:p>
        </p:txBody>
      </p:sp>
      <p:sp>
        <p:nvSpPr>
          <p:cNvPr id="26" name="Text 26"/>
          <p:cNvSpPr/>
          <p:nvPr/>
        </p:nvSpPr>
        <p:spPr>
          <a:xfrm>
            <a:off x="9269730" y="3703320"/>
            <a:ext cx="22821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&amp; QA</a:t>
            </a:r>
            <a:endParaRPr lang="en-US" sz="1150" dirty="0"/>
          </a:p>
        </p:txBody>
      </p:sp>
      <p:sp>
        <p:nvSpPr>
          <p:cNvPr id="27" name="Text 27"/>
          <p:cNvSpPr/>
          <p:nvPr/>
        </p:nvSpPr>
        <p:spPr>
          <a:xfrm>
            <a:off x="9269730" y="4023360"/>
            <a:ext cx="228219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document AI reader, CAPA draft generation, testing and demo prep.</a:t>
            </a:r>
            <a:endParaRPr lang="en-US" sz="1050" dirty="0"/>
          </a:p>
        </p:txBody>
      </p:sp>
      <p:sp>
        <p:nvSpPr>
          <p:cNvPr id="28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TRIALGUARD  •  Clinical Trial Risk Monitor</a:t>
            </a:r>
            <a:endParaRPr lang="en-US" sz="900" dirty="0"/>
          </a:p>
        </p:txBody>
      </p:sp>
      <p:sp>
        <p:nvSpPr>
          <p:cNvPr id="29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2026-09-15T17:29:21Z</dcterms:created>
  <dcterms:modified xsi:type="dcterms:W3CDTF">2026-09-15T17:29:21Z</dcterms:modified>
</cp:coreProperties>
</file>